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Silent Failure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00C9A7"/>
                </a:solidFill>
                <a:latin typeface="Calibri"/>
              </a:rPr>
              <a:t>for Clinical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0C0"/>
                </a:solidFill>
                <a:latin typeface="Calibri"/>
              </a:rPr>
              <a:t>Early-warning uncertainty monitoring across 4 UQ methods, 3 failure modes, 2 clinical datasets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389120"/>
            <a:ext cx="2377440" cy="1463040"/>
          </a:xfrm>
          <a:prstGeom prst="rect">
            <a:avLst/>
          </a:prstGeom>
          <a:solidFill>
            <a:srgbClr val="152238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5262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C9A7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57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UQ Methods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4389120"/>
            <a:ext cx="2377440" cy="1463040"/>
          </a:xfrm>
          <a:prstGeom prst="rect">
            <a:avLst/>
          </a:prstGeom>
          <a:solidFill>
            <a:srgbClr val="152238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45262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C9A7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5257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Failure Modes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4389120"/>
            <a:ext cx="2377440" cy="1463040"/>
          </a:xfrm>
          <a:prstGeom prst="rect">
            <a:avLst/>
          </a:prstGeom>
          <a:solidFill>
            <a:srgbClr val="152238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45262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C9A7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5257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Clinical Datasets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75120"/>
            <a:ext cx="12188952" cy="3810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0C0"/>
                </a:solidFill>
                <a:latin typeface="Calibri"/>
              </a:rPr>
              <a:t>Clinical AI Safety  ·  Uncertainty Quantification  ·  Distribution Shift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74552" cy="1905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Problem: Models Fail Silently in Clinical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0C0"/>
                </a:solidFill>
                <a:latin typeface="Calibri"/>
              </a:rPr>
              <a:t>A deployed model scores 87% accuracy in validation. Six months later, the data pipeline shifts, labels drift, or sensors degrade — but no alert fires. Accuracy quietly erodes to 72%. Clinicians trust predictions that are no longer reliable.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0"/>
            <a:ext cx="2560320" cy="1554480"/>
          </a:xfrm>
          <a:prstGeom prst="rect">
            <a:avLst/>
          </a:prstGeom>
          <a:solidFill>
            <a:srgbClr val="152238"/>
          </a:solidFill>
          <a:ln w="25400">
            <a:solidFill>
              <a:srgbClr val="4C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CD97F"/>
                </a:solidFill>
                <a:latin typeface="Calibri"/>
              </a:rPr>
              <a:t>Month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546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Model deployed
ACC = 87%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3246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0B0C0"/>
                </a:solidFill>
                <a:latin typeface="Calibri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743200"/>
            <a:ext cx="2560320" cy="1554480"/>
          </a:xfrm>
          <a:prstGeom prst="rect">
            <a:avLst/>
          </a:prstGeom>
          <a:solidFill>
            <a:srgbClr val="152238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700"/>
                </a:solidFill>
                <a:latin typeface="Calibri"/>
              </a:rPr>
              <a:t>Month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1546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Data pipeline
drift begins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3246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0B0C0"/>
                </a:solidFill>
                <a:latin typeface="Calibri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743200"/>
            <a:ext cx="2560320" cy="1554480"/>
          </a:xfrm>
          <a:prstGeom prst="rect">
            <a:avLst/>
          </a:prstGeom>
          <a:solidFill>
            <a:srgbClr val="152238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A500"/>
                </a:solidFill>
                <a:latin typeface="Calibri"/>
              </a:rPr>
              <a:t>Month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1546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Accuracy drops
to ~72%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246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0B0C0"/>
                </a:solidFill>
                <a:latin typeface="Calibri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2743200"/>
            <a:ext cx="2560320" cy="1554480"/>
          </a:xfrm>
          <a:prstGeom prst="rect">
            <a:avLst/>
          </a:prstGeom>
          <a:solidFill>
            <a:srgbClr val="152238"/>
          </a:solidFill>
          <a:ln w="2540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5C5C"/>
                </a:solidFill>
                <a:latin typeface="Calibri"/>
              </a:rPr>
              <a:t>Month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1546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Clinician notices
misdiagnoses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63440"/>
            <a:ext cx="11247120" cy="822960"/>
          </a:xfrm>
          <a:prstGeom prst="rect">
            <a:avLst/>
          </a:prstGeom>
          <a:solidFill>
            <a:srgbClr val="1A3050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709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A7"/>
                </a:solidFill>
                <a:latin typeface="Calibri"/>
              </a:rPr>
              <a:t>Key Question: Can uncertainty signals warn us BEFORE accuracy drops — giving time to intervene?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577840"/>
            <a:ext cx="3566160" cy="105156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5961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A7"/>
                </a:solidFill>
                <a:latin typeface="Calibri"/>
              </a:rPr>
              <a:t>Covariate Shift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436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0C0"/>
                </a:solidFill>
                <a:latin typeface="Calibri"/>
              </a:rPr>
              <a:t>Feature distribution drifts
(e.g. sensor calibration change)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5577840"/>
            <a:ext cx="3566160" cy="105156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55961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A7"/>
                </a:solidFill>
                <a:latin typeface="Calibri"/>
              </a:rPr>
              <a:t>Label Noise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9436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0C0"/>
                </a:solidFill>
                <a:latin typeface="Calibri"/>
              </a:rPr>
              <a:t>Target labels corrupted
(e.g. transcription errors)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5577840"/>
            <a:ext cx="3566160" cy="105156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55961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A7"/>
                </a:solidFill>
                <a:latin typeface="Calibri"/>
              </a:rPr>
              <a:t>Feature Missingness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9436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0C0"/>
                </a:solidFill>
                <a:latin typeface="Calibri"/>
              </a:rPr>
              <a:t>Input columns zeroed out
(e.g. pipeline data loss)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74552" cy="1905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Our Approach: Four Uncertainty Quantification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9A7"/>
                </a:solidFill>
                <a:latin typeface="Calibri"/>
              </a:rPr>
              <a:t>Each method produces a per-sample uncertainty score fed into a KS-test alarm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2651760" cy="4389120"/>
          </a:xfrm>
          <a:prstGeom prst="rect">
            <a:avLst/>
          </a:prstGeom>
          <a:solidFill>
            <a:srgbClr val="152238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411480" cy="411480"/>
          </a:xfrm>
          <a:prstGeom prst="rect">
            <a:avLst/>
          </a:prstGeom>
          <a:solidFill>
            <a:srgbClr val="00C9A7"/>
          </a:solidFill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Conformal
(MAPIE)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1752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0C0"/>
                </a:solidFill>
                <a:latin typeface="Calibri"/>
              </a:rPr>
              <a:t>Split conformal
prediction sets.
1 − max softmax
confidence.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617720"/>
            <a:ext cx="2286000" cy="635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7091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0C9A7"/>
                </a:solidFill>
                <a:latin typeface="Calibri"/>
              </a:rPr>
              <a:t>Assumption-free
coverage guarantee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691640"/>
            <a:ext cx="2651760" cy="4389120"/>
          </a:xfrm>
          <a:prstGeom prst="rect">
            <a:avLst/>
          </a:prstGeom>
          <a:solidFill>
            <a:srgbClr val="152238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1737360"/>
            <a:ext cx="411480" cy="411480"/>
          </a:xfrm>
          <a:prstGeom prst="rect">
            <a:avLst/>
          </a:prstGeom>
          <a:solidFill>
            <a:srgbClr val="00C9A7"/>
          </a:solidFill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21945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NGBoost
Entropy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301752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0C0"/>
                </a:solidFill>
                <a:latin typeface="Calibri"/>
              </a:rPr>
              <a:t>Gradient-boosted
probabilistic model.
Bernoulli entropy
H(p).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7872" y="4617720"/>
            <a:ext cx="2286000" cy="635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47091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0C9A7"/>
                </a:solidFill>
                <a:latin typeface="Calibri"/>
              </a:rPr>
              <a:t>Native distributional
output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2784" y="1691640"/>
            <a:ext cx="2651760" cy="4389120"/>
          </a:xfrm>
          <a:prstGeom prst="rect">
            <a:avLst/>
          </a:prstGeom>
          <a:solidFill>
            <a:srgbClr val="152238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1737360"/>
            <a:ext cx="411480" cy="411480"/>
          </a:xfrm>
          <a:prstGeom prst="rect">
            <a:avLst/>
          </a:prstGeom>
          <a:solidFill>
            <a:srgbClr val="00C9A7"/>
          </a:solidFill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21945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MC Dropout
MLP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301752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0C0"/>
                </a:solidFill>
                <a:latin typeface="Calibri"/>
              </a:rPr>
              <a:t>100 stochastic
forward passes.
Variance of
predictions.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55664" y="4617720"/>
            <a:ext cx="2286000" cy="635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47091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0C9A7"/>
                </a:solidFill>
                <a:latin typeface="Calibri"/>
              </a:rPr>
              <a:t>Bayesian approx.
via dropout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0576" y="1691640"/>
            <a:ext cx="2651760" cy="4389120"/>
          </a:xfrm>
          <a:prstGeom prst="rect">
            <a:avLst/>
          </a:prstGeom>
          <a:solidFill>
            <a:srgbClr val="152238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2016" y="1737360"/>
            <a:ext cx="411480" cy="411480"/>
          </a:xfrm>
          <a:prstGeom prst="rect">
            <a:avLst/>
          </a:prstGeom>
          <a:solidFill>
            <a:srgbClr val="00C9A7"/>
          </a:solidFill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2016" y="21945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TabTransformer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7736" y="301752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0C0"/>
                </a:solidFill>
                <a:latin typeface="Calibri"/>
              </a:rPr>
              <a:t>Attention-based
tabular encoder.
Entropy of mean
prediction†.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63456" y="4617720"/>
            <a:ext cx="2286000" cy="635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72016" y="47091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0C9A7"/>
                </a:solidFill>
                <a:latin typeface="Calibri"/>
              </a:rPr>
              <a:t>†Residual+LayerNorm
suppresses MC variance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172200"/>
            <a:ext cx="11247120" cy="502920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6190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9A7"/>
                </a:solidFill>
                <a:latin typeface="Calibri"/>
              </a:rPr>
              <a:t>Alarm: 3 consecutive KS-test rejections (p &lt; 0.05) comparing corrupted vs. clean uncertainty distributions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74552" cy="1905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Experiment: 2 Datasets × 3 Failure Modes × 10 Severity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9A7"/>
                </a:solidFill>
                <a:latin typeface="Calibri"/>
              </a:rPr>
              <a:t>α ∈ {0.0, 0.1, … 0.9}  ·  severity 0.0 = clean data, 0.9 = maximum corruption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691640"/>
            <a:ext cx="3566160" cy="4663440"/>
          </a:xfrm>
          <a:prstGeom prst="rect">
            <a:avLst/>
          </a:prstGeom>
          <a:solidFill>
            <a:srgbClr val="152238"/>
          </a:solidFill>
          <a:ln w="19050">
            <a:solidFill>
              <a:srgbClr val="4C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Covariate Shift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0C0"/>
                </a:solidFill>
                <a:latin typeface="Calibri"/>
              </a:rPr>
              <a:t>Exponential reweighting
on feature 0.
Shifts marginal distribution
of one input variable.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886200"/>
            <a:ext cx="1645920" cy="347472"/>
          </a:xfrm>
          <a:prstGeom prst="rect">
            <a:avLst/>
          </a:prstGeom>
          <a:solidFill>
            <a:srgbClr val="4C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904487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628"/>
                </a:solidFill>
                <a:latin typeface="Calibri"/>
              </a:rPr>
              <a:t>DETECTABLE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434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B0C0"/>
                </a:solidFill>
                <a:latin typeface="Calibri"/>
              </a:rPr>
              <a:t>KS test on uncertainty
scores detects shift
at α ≥ 0.7 (Pima)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691640"/>
            <a:ext cx="3566160" cy="4663440"/>
          </a:xfrm>
          <a:prstGeom prst="rect">
            <a:avLst/>
          </a:prstGeom>
          <a:solidFill>
            <a:srgbClr val="152238"/>
          </a:solidFill>
          <a:ln w="1905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7830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Label Noise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3774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0C0"/>
                </a:solidFill>
                <a:latin typeface="Calibri"/>
              </a:rPr>
              <a:t>Random α-fraction
of labels flipped.
Target corrupted but
features unchanged.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3886200"/>
            <a:ext cx="1645920" cy="347472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3904487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628"/>
                </a:solidFill>
                <a:latin typeface="Calibri"/>
              </a:rPr>
              <a:t>UNDETECTABLE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3434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B0C0"/>
                </a:solidFill>
                <a:latin typeface="Calibri"/>
              </a:rPr>
              <a:t>Feature-derived uncertainty
cannot see label-only
corruption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1691640"/>
            <a:ext cx="3566160" cy="4663440"/>
          </a:xfrm>
          <a:prstGeom prst="rect">
            <a:avLst/>
          </a:prstGeom>
          <a:solidFill>
            <a:srgbClr val="152238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7830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Feature Missingness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7744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0C0"/>
                </a:solidFill>
                <a:latin typeface="Calibri"/>
              </a:rPr>
              <a:t>Column 0 zeroed after
StandardScaler.
Equivalent to imputing
the training mean.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3886200"/>
            <a:ext cx="1645920" cy="34747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904487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628"/>
                </a:solidFill>
                <a:latin typeface="Calibri"/>
              </a:rPr>
              <a:t>UNDETECTABLE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3434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B0C0"/>
                </a:solidFill>
                <a:latin typeface="Calibri"/>
              </a:rPr>
              <a:t>Zero-fill = training-mean
imputation → no feature
distribution shift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B0C0"/>
                </a:solidFill>
                <a:latin typeface="Calibri"/>
              </a:rPr>
              <a:t>Cleveland Heart Disease (n≈90 test set): KS test underpowered for covariate shift — documented limitation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74552" cy="1905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Results: Detection Delay on Covariate Shift (Pima Dataset)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91640"/>
            <a:ext cx="2651760" cy="914400"/>
          </a:xfrm>
          <a:prstGeom prst="rect">
            <a:avLst/>
          </a:prstGeom>
          <a:solidFill>
            <a:srgbClr val="152238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9A7"/>
                </a:solidFill>
                <a:latin typeface="Calibri"/>
              </a:rPr>
              <a:t>70.1%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0C0"/>
                </a:solidFill>
                <a:latin typeface="Calibri"/>
              </a:rPr>
              <a:t>Pima Baseline ACC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691640"/>
            <a:ext cx="2651760" cy="914400"/>
          </a:xfrm>
          <a:prstGeom prst="rect">
            <a:avLst/>
          </a:prstGeom>
          <a:solidFill>
            <a:srgbClr val="152238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7373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9A7"/>
                </a:solidFill>
                <a:latin typeface="Calibri"/>
              </a:rPr>
              <a:t>79.0%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2402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0C0"/>
                </a:solidFill>
                <a:latin typeface="Calibri"/>
              </a:rPr>
              <a:t>Pima Baseline AUC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691640"/>
            <a:ext cx="2651760" cy="914400"/>
          </a:xfrm>
          <a:prstGeom prst="rect">
            <a:avLst/>
          </a:prstGeom>
          <a:solidFill>
            <a:srgbClr val="152238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7373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9A7"/>
                </a:solidFill>
                <a:latin typeface="Calibri"/>
              </a:rPr>
              <a:t>86.7%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2402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0C0"/>
                </a:solidFill>
                <a:latin typeface="Calibri"/>
              </a:rPr>
              <a:t>Cleveland Baseline ACC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691640"/>
            <a:ext cx="2651760" cy="914400"/>
          </a:xfrm>
          <a:prstGeom prst="rect">
            <a:avLst/>
          </a:prstGeom>
          <a:solidFill>
            <a:srgbClr val="152238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7373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9A7"/>
                </a:solidFill>
                <a:latin typeface="Calibri"/>
              </a:rPr>
              <a:t>89.4%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2402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0C0"/>
                </a:solidFill>
                <a:latin typeface="Calibri"/>
              </a:rPr>
              <a:t>Cleveland Baseline AUC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834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Detection Delay Table (δ = α_alarm − α_drop)  ·  Pima, Covariate Shift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A500"/>
                </a:solidFill>
                <a:latin typeface="Calibri"/>
              </a:rPr>
              <a:t>Positive delay = alarm fires AFTER accuracy drops (late warning)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20440"/>
            <a:ext cx="2194560" cy="411480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5478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9A7"/>
                </a:solidFill>
                <a:latin typeface="Calibri"/>
              </a:rPr>
              <a:t>Method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3520440"/>
            <a:ext cx="1005840" cy="411480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80" y="35478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9A7"/>
                </a:solidFill>
                <a:latin typeface="Calibri"/>
              </a:rPr>
              <a:t>α Alarm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3520440"/>
            <a:ext cx="1005840" cy="411480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3320" y="35478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9A7"/>
                </a:solidFill>
                <a:latin typeface="Calibri"/>
              </a:rPr>
              <a:t>α Drop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3520440"/>
            <a:ext cx="914400" cy="411480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354787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9A7"/>
                </a:solidFill>
                <a:latin typeface="Calibri"/>
              </a:rPr>
              <a:t>Delay 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3520440"/>
            <a:ext cx="5029200" cy="411480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23560" y="35478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9A7"/>
                </a:solidFill>
                <a:latin typeface="Calibri"/>
              </a:rPr>
              <a:t>Interpretation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931920"/>
            <a:ext cx="2194560" cy="41148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977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Conformal (MAPIE)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3931920"/>
            <a:ext cx="1005840" cy="41148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97480" y="39776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0.8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0" y="3931920"/>
            <a:ext cx="1005840" cy="41148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39776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0.5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3931920"/>
            <a:ext cx="914400" cy="41148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09160" y="3977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A500"/>
                </a:solidFill>
                <a:latin typeface="Calibri"/>
              </a:rPr>
              <a:t>+0.3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77840" y="3931920"/>
            <a:ext cx="5029200" cy="41148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23560" y="3977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Late — alarm fires 3 steps after drop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343400"/>
            <a:ext cx="2194560" cy="411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389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NGBoost Entropy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51760" y="4343400"/>
            <a:ext cx="1005840" cy="411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97480" y="4389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0.7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0" y="4343400"/>
            <a:ext cx="1005840" cy="411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03320" y="4389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0.5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63440" y="4343400"/>
            <a:ext cx="914400" cy="411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09160" y="43891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A500"/>
                </a:solidFill>
                <a:latin typeface="Calibri"/>
              </a:rPr>
              <a:t>+0.2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77840" y="4343400"/>
            <a:ext cx="5029200" cy="411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23560" y="4389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Late — alarm fires 2 steps after drop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754880"/>
            <a:ext cx="2194560" cy="41148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4800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MC Dropout MLP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51760" y="4754880"/>
            <a:ext cx="1005840" cy="41148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97480" y="4800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0.8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0" y="4754880"/>
            <a:ext cx="1005840" cy="41148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03320" y="4800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0.5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63440" y="4754880"/>
            <a:ext cx="914400" cy="41148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09160" y="48006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A500"/>
                </a:solidFill>
                <a:latin typeface="Calibri"/>
              </a:rPr>
              <a:t>+0.3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577840" y="4754880"/>
            <a:ext cx="5029200" cy="41148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23560" y="4800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Late — alarm fires 3 steps after drop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5166360"/>
            <a:ext cx="2194560" cy="411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5212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TabTransformer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51760" y="5166360"/>
            <a:ext cx="1005840" cy="411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697480" y="5212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0.7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0" y="5166360"/>
            <a:ext cx="1005840" cy="411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03320" y="5212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0.5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663440" y="5166360"/>
            <a:ext cx="914400" cy="411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09160" y="5212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A500"/>
                </a:solidFill>
                <a:latin typeface="Calibri"/>
              </a:rPr>
              <a:t>+0.2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577840" y="5166360"/>
            <a:ext cx="5029200" cy="411480"/>
          </a:xfrm>
          <a:prstGeom prst="rect">
            <a:avLst/>
          </a:prstGeom>
          <a:solidFill>
            <a:srgbClr val="1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23560" y="5212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Late — alarm fires 2 steps after drop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6035040"/>
            <a:ext cx="11247120" cy="594360"/>
          </a:xfrm>
          <a:prstGeom prst="rect">
            <a:avLst/>
          </a:prstGeom>
          <a:solidFill>
            <a:srgbClr val="1A3050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4360" y="6062472"/>
            <a:ext cx="1097280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A500"/>
                </a:solidFill>
                <a:latin typeface="Calibri"/>
              </a:rPr>
              <a:t>⚠  All four methods detect covariate shift — but only AFTER the accuracy has already dropped. Label noise &amp; feature missingness remain undetectable by uncertainty alone.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74552" cy="1905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Streamlit Interface: Real-Time Uncertainty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9A7"/>
                </a:solidFill>
                <a:latin typeface="Calibri"/>
              </a:rPr>
              <a:t>http://localhost:8501  ·  Pre-computed results + live model inference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2286000" cy="4572000"/>
          </a:xfrm>
          <a:prstGeom prst="rect">
            <a:avLst/>
          </a:prstGeom>
          <a:solidFill>
            <a:srgbClr val="0D1B30"/>
          </a:solidFill>
          <a:ln w="6350">
            <a:solidFill>
              <a:srgbClr val="A0B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  <a:latin typeface="Calibri"/>
              </a:rPr>
              <a:t>⚙ Sidebar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📊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414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0C0"/>
                </a:solidFill>
                <a:latin typeface="Calibri"/>
              </a:rPr>
              <a:t>   pima / cleveland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3405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💥 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266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0C0"/>
                </a:solidFill>
                <a:latin typeface="Calibri"/>
              </a:rPr>
              <a:t>   covariate_shift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192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🎚 Alarm Threshold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11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0C0"/>
                </a:solidFill>
                <a:latin typeface="Calibri"/>
              </a:rPr>
              <a:t>   uncertainty slider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0448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📋 Methods to display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9709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0C0"/>
                </a:solidFill>
                <a:latin typeface="Calibri"/>
              </a:rPr>
              <a:t>   multiselect (4)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897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🔢 MC / TT passes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823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0C0"/>
                </a:solidFill>
                <a:latin typeface="Calibri"/>
              </a:rPr>
              <a:t>   1–200 slider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749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C9A7"/>
                </a:solidFill>
                <a:latin typeface="Calibri"/>
              </a:rPr>
              <a:t>▶ Rerun Evaluation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1691640"/>
            <a:ext cx="4297680" cy="214884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0" y="1737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Calibri"/>
              </a:rPr>
              <a:t>Panel 1 — Uncertainty Monitor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103120"/>
            <a:ext cx="4114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0C0"/>
                </a:solidFill>
                <a:latin typeface="Calibri"/>
              </a:rPr>
              <a:t>Plotly line chart
Uncertainty vs. Severity α
──── alarm threshold (hline)
─·─ accuracy drop (vline)
▒▒▒ detection window (vrect)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1691640"/>
            <a:ext cx="4297680" cy="214884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1737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Calibri"/>
              </a:rPr>
              <a:t>Panel 2 — Detection Summary 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103120"/>
            <a:ext cx="4114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B0C0"/>
                </a:solidFill>
                <a:latin typeface="Calibri"/>
              </a:rPr>
              <a:t>Colour-coded delay table
🟢 ≤ 0 (early warning)
🟡 ≤ 0.2 (slight late)
🔴 &gt; 0.2 or None (missed)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3977639"/>
            <a:ext cx="8778240" cy="137160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402336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Calibri"/>
              </a:rPr>
              <a:t>Panel 3 — Model Status  (live inference at α = 0.5)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4389120"/>
            <a:ext cx="2011680" cy="685800"/>
          </a:xfrm>
          <a:prstGeom prst="rect">
            <a:avLst/>
          </a:prstGeom>
          <a:solidFill>
            <a:srgbClr val="3A0A0A"/>
          </a:solidFill>
          <a:ln w="1270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63240" y="440740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5C5C"/>
                </a:solidFill>
                <a:latin typeface="Calibri"/>
              </a:rPr>
              <a:t>Conformal
🚨 ALARM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80" y="4389120"/>
            <a:ext cx="2011680" cy="685800"/>
          </a:xfrm>
          <a:prstGeom prst="rect">
            <a:avLst/>
          </a:prstGeom>
          <a:solidFill>
            <a:srgbClr val="3A0A0A"/>
          </a:solidFill>
          <a:ln w="1270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57800" y="440740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5C5C"/>
                </a:solidFill>
                <a:latin typeface="Calibri"/>
              </a:rPr>
              <a:t>NGBoost
🚨 ALARM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4389120"/>
            <a:ext cx="2011680" cy="685800"/>
          </a:xfrm>
          <a:prstGeom prst="rect">
            <a:avLst/>
          </a:prstGeom>
          <a:solidFill>
            <a:srgbClr val="3A0A0A"/>
          </a:solidFill>
          <a:ln w="1270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60" y="440740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5C5C"/>
                </a:solidFill>
                <a:latin typeface="Calibri"/>
              </a:rPr>
              <a:t>MC Dropout
🚨 ALARM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0" y="4389120"/>
            <a:ext cx="2011680" cy="685800"/>
          </a:xfrm>
          <a:prstGeom prst="rect">
            <a:avLst/>
          </a:prstGeom>
          <a:solidFill>
            <a:srgbClr val="3A0A0A"/>
          </a:solidFill>
          <a:ln w="1270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46920" y="440740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5C5C"/>
                </a:solidFill>
                <a:latin typeface="Calibri"/>
              </a:rPr>
              <a:t>TabTransformer
🚨 ALARM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5166360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B0C0"/>
                </a:solidFill>
                <a:latin typeface="Calibri"/>
              </a:rPr>
              <a:t>Status at covariate_shift α=0.5: all four methods correctly fire 🚨 ALARM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B0C0"/>
                </a:solidFill>
                <a:latin typeface="Calibri"/>
              </a:rPr>
              <a:t>📸  See docs/interface_screenshot.png for the live captured interface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74552" cy="1905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Responsible AI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9A7"/>
                </a:solidFill>
                <a:latin typeface="Calibri"/>
              </a:rPr>
              <a:t>Safety, fairness, and limitations in clinical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394960" cy="2103120"/>
          </a:xfrm>
          <a:prstGeom prst="rect">
            <a:avLst/>
          </a:prstGeom>
          <a:solidFill>
            <a:srgbClr val="152238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  <a:latin typeface="Calibri"/>
              </a:rPr>
              <a:t>⚠  Known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0C0"/>
                </a:solidFill>
                <a:latin typeface="Calibri"/>
              </a:rPr>
              <a:t>• Label noise: KS test blind to label-only corruption
• Feature missingness = mean imputation → no shift
• Cleveland n≈90: KS test underpowered
• All delays positive: alarms fire AFTER accuracy drops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691640"/>
            <a:ext cx="5394960" cy="2103120"/>
          </a:xfrm>
          <a:prstGeom prst="rect">
            <a:avLst/>
          </a:prstGeom>
          <a:solidFill>
            <a:srgbClr val="152238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  <a:latin typeface="Calibri"/>
              </a:rPr>
              <a:t>🔒  Safety 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4884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0C0"/>
                </a:solidFill>
                <a:latin typeface="Calibri"/>
              </a:rPr>
              <a:t>• Supplement with calibration-error monitoring
• Use sentinel imputation (−3σ) for missingness
• Lower KS consecutive threshold from 3→2 for small n
• Deploy human-in-the-loop review at first warning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77640"/>
            <a:ext cx="5394960" cy="2103120"/>
          </a:xfrm>
          <a:prstGeom prst="rect">
            <a:avLst/>
          </a:prstGeom>
          <a:solidFill>
            <a:srgbClr val="152238"/>
          </a:solidFill>
          <a:ln w="19050">
            <a:solidFill>
              <a:srgbClr val="4C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069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D97F"/>
                </a:solidFill>
                <a:latin typeface="Calibri"/>
              </a:rPr>
              <a:t>⚖  Fairness Considerations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43484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0C0"/>
                </a:solidFill>
                <a:latin typeface="Calibri"/>
              </a:rPr>
              <a:t>• Covariate shift may affect demographic subgroups
  differently — monitor per-subgroup uncertainty
• Threshold choice (p&lt;0.05) trades recall vs. precision
• Training data bias propagates through all methods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977640"/>
            <a:ext cx="5394960" cy="2103120"/>
          </a:xfrm>
          <a:prstGeom prst="rect">
            <a:avLst/>
          </a:prstGeom>
          <a:solidFill>
            <a:srgbClr val="15223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069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📋  Deployment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43484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0C0"/>
                </a:solidFill>
                <a:latin typeface="Calibri"/>
              </a:rPr>
              <a:t>• Calibrate alarm thresholds on hold-out period
• Log all predictions + uncertainty scores
• Retrain protocol triggered by 3 consecutive alarms
• Regulatory documentation for each failure mode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74552" cy="1905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  <a:latin typeface="Calibri"/>
              </a:rP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End-to-end silent failure detection pipeline for clinical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328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0C0"/>
                </a:solidFill>
                <a:latin typeface="Calibri"/>
              </a:rPr>
              <a:t>▸  4 UQ methods: Conformal, NGBoost, MC Dropout MLP, TabTransformer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1693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Controlled injection of 3 clinical failure modes at 10 severity levels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0098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0C0"/>
                </a:solidFill>
                <a:latin typeface="Calibri"/>
              </a:rPr>
              <a:t>▸  KS-test alarm with detection-delay metric (δ = α_alarm − α_drop)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850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Streamlit dashboard with live inference + pre-computed sweep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690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0C0"/>
                </a:solidFill>
                <a:latin typeface="Calibri"/>
              </a:rPr>
              <a:t>▸  Full reproducibility: seeded, config-driven, pinned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  <a:latin typeface="Calibri"/>
              </a:rPr>
              <a:t>Next Steps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148840"/>
            <a:ext cx="5303520" cy="91440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86000"/>
            <a:ext cx="365760" cy="365760"/>
          </a:xfrm>
          <a:prstGeom prst="rect">
            <a:avLst/>
          </a:prstGeom>
          <a:solidFill>
            <a:srgbClr val="00C9A7"/>
          </a:solidFill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19456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Sentinel imputation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54203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0C0"/>
                </a:solidFill>
                <a:latin typeface="Calibri"/>
              </a:rPr>
              <a:t>Replace zero-fill with −3σ to make
feature missingness detectable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200400"/>
            <a:ext cx="5303520" cy="91440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337560"/>
            <a:ext cx="365760" cy="365760"/>
          </a:xfrm>
          <a:prstGeom prst="rect">
            <a:avLst/>
          </a:prstGeom>
          <a:solidFill>
            <a:srgbClr val="00C9A7"/>
          </a:solidFill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2461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Calibration monitor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59359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0C0"/>
                </a:solidFill>
                <a:latin typeface="Calibri"/>
              </a:rPr>
              <a:t>ECE tracking to catch label-noise
corruption missed by KS test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251960"/>
            <a:ext cx="5303520" cy="91440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389120"/>
            <a:ext cx="365760" cy="365760"/>
          </a:xfrm>
          <a:prstGeom prst="rect">
            <a:avLst/>
          </a:prstGeom>
          <a:solidFill>
            <a:srgbClr val="00C9A7"/>
          </a:solidFill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429768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Subgroup fairness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64515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0C0"/>
                </a:solidFill>
                <a:latin typeface="Calibri"/>
              </a:rPr>
              <a:t>Per-demographic uncertainty profiles
for equitable alarm thresholds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5303520"/>
            <a:ext cx="5303520" cy="91440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440680"/>
            <a:ext cx="365760" cy="365760"/>
          </a:xfrm>
          <a:prstGeom prst="rect">
            <a:avLst/>
          </a:prstGeom>
          <a:solidFill>
            <a:srgbClr val="00C9A7"/>
          </a:solidFill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534924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Prospective trial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56967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0C0"/>
                </a:solidFill>
                <a:latin typeface="Calibri"/>
              </a:rPr>
              <a:t>Deploy on real clinical stream with
ground-truth label lag validation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75120"/>
            <a:ext cx="12188952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B0C0"/>
                </a:solidFill>
                <a:latin typeface="Calibri"/>
              </a:rPr>
              <a:t>Silent Failure Detection for Clinical ML  ·  github.com/arkha/silent_failure_project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